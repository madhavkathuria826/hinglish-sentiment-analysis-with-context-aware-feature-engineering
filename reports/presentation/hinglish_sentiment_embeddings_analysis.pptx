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Semi-Bold" charset="1" panose="00000700000000000000"/>
      <p:regular r:id="rId26"/>
    </p:embeddedFont>
    <p:embeddedFont>
      <p:font typeface="DM Sans Bold" charset="1" panose="00000000000000000000"/>
      <p:regular r:id="rId27"/>
    </p:embeddedFont>
    <p:embeddedFont>
      <p:font typeface="Raleway Italics" charset="1" panose="00000000000000000000"/>
      <p:regular r:id="rId28"/>
    </p:embeddedFont>
    <p:embeddedFont>
      <p:font typeface="Montserrat Heavy" charset="1" panose="00000A00000000000000"/>
      <p:regular r:id="rId29"/>
    </p:embeddedFont>
    <p:embeddedFont>
      <p:font typeface="Mokoto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8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6.png" Type="http://schemas.openxmlformats.org/officeDocument/2006/relationships/image"/><Relationship Id="rId4" Target="../media/image27.jpe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2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2.png" Type="http://schemas.openxmlformats.org/officeDocument/2006/relationships/image"/><Relationship Id="rId4" Target="../media/image38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3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jpeg" Type="http://schemas.openxmlformats.org/officeDocument/2006/relationships/image"/><Relationship Id="rId3" Target="../media/image2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jpeg" Type="http://schemas.openxmlformats.org/officeDocument/2006/relationships/image"/><Relationship Id="rId3" Target="../media/image2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02783" y="1838768"/>
            <a:ext cx="613282" cy="535698"/>
          </a:xfrm>
          <a:custGeom>
            <a:avLst/>
            <a:gdLst/>
            <a:ahLst/>
            <a:cxnLst/>
            <a:rect r="r" b="b" t="t" l="l"/>
            <a:pathLst>
              <a:path h="535698" w="613282">
                <a:moveTo>
                  <a:pt x="0" y="0"/>
                </a:moveTo>
                <a:lnTo>
                  <a:pt x="613282" y="0"/>
                </a:lnTo>
                <a:lnTo>
                  <a:pt x="613282" y="535698"/>
                </a:lnTo>
                <a:lnTo>
                  <a:pt x="0" y="535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6543" y="3268554"/>
            <a:ext cx="9506012" cy="187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46"/>
              </a:lnSpc>
            </a:pPr>
            <a:r>
              <a:rPr lang="en-US" b="true" sz="7522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Improving Hinglish Sentiment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47841" y="1931047"/>
            <a:ext cx="2493294" cy="16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6"/>
              </a:lnSpc>
            </a:pPr>
            <a:r>
              <a:rPr lang="en-US" b="true" sz="132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NLP Research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6543" y="7584886"/>
            <a:ext cx="5482510" cy="51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9"/>
              </a:lnSpc>
            </a:pPr>
            <a:r>
              <a:rPr lang="en-US" sz="204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Using Machine Learning and Sentence Embeddings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6543" y="5951268"/>
            <a:ext cx="10062067" cy="138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27"/>
              </a:lnSpc>
            </a:pPr>
            <a:r>
              <a:rPr lang="en-US" b="true" sz="10765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Hinglish SVM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2831">
            <a:off x="-183072" y="90349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438710">
            <a:off x="-4529841" y="-5573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5739" y="1420489"/>
            <a:ext cx="600773" cy="525260"/>
          </a:xfrm>
          <a:custGeom>
            <a:avLst/>
            <a:gdLst/>
            <a:ahLst/>
            <a:cxnLst/>
            <a:rect r="r" b="b" t="t" l="l"/>
            <a:pathLst>
              <a:path h="525260" w="600773">
                <a:moveTo>
                  <a:pt x="0" y="0"/>
                </a:moveTo>
                <a:lnTo>
                  <a:pt x="600773" y="0"/>
                </a:lnTo>
                <a:lnTo>
                  <a:pt x="600773" y="525260"/>
                </a:lnTo>
                <a:lnTo>
                  <a:pt x="0" y="52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123695" y="-1524127"/>
            <a:ext cx="8605783" cy="12941028"/>
          </a:xfrm>
          <a:custGeom>
            <a:avLst/>
            <a:gdLst/>
            <a:ahLst/>
            <a:cxnLst/>
            <a:rect r="r" b="b" t="t" l="l"/>
            <a:pathLst>
              <a:path h="12941028" w="8605783">
                <a:moveTo>
                  <a:pt x="0" y="0"/>
                </a:moveTo>
                <a:lnTo>
                  <a:pt x="8605783" y="0"/>
                </a:lnTo>
                <a:lnTo>
                  <a:pt x="8605783" y="12941028"/>
                </a:lnTo>
                <a:lnTo>
                  <a:pt x="0" y="129410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63450" y="2806763"/>
            <a:ext cx="9965350" cy="212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37"/>
              </a:lnSpc>
            </a:pPr>
            <a:r>
              <a:rPr lang="en-US" b="true" sz="8566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63450" y="5434995"/>
            <a:ext cx="9705631" cy="251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Sentiment analysis is widely used in NLP for understanding opinions and emotions in text. Traditional models perform well on standard English, but Hinglish presents unique challenges: code-mixing between Hindi and English, informal grammar structures, and non-standard spelling variations.</a:t>
            </a:r>
          </a:p>
          <a:p>
            <a:pPr algn="ctr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Example: "yeh phone mast hai but battery bakwaas hai"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875728" y="49055"/>
            <a:ext cx="9155453" cy="10158617"/>
          </a:xfrm>
          <a:custGeom>
            <a:avLst/>
            <a:gdLst/>
            <a:ahLst/>
            <a:cxnLst/>
            <a:rect r="r" b="b" t="t" l="l"/>
            <a:pathLst>
              <a:path h="10158617" w="9155453">
                <a:moveTo>
                  <a:pt x="0" y="0"/>
                </a:moveTo>
                <a:lnTo>
                  <a:pt x="9155453" y="0"/>
                </a:lnTo>
                <a:lnTo>
                  <a:pt x="9155453" y="10158617"/>
                </a:lnTo>
                <a:lnTo>
                  <a:pt x="0" y="1015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10249" y="1599114"/>
            <a:ext cx="1154372" cy="51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4"/>
              </a:lnSpc>
            </a:pPr>
            <a:r>
              <a:rPr lang="en-US" sz="3142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1365543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8659" y="3844381"/>
            <a:ext cx="1708705" cy="1412967"/>
          </a:xfrm>
          <a:custGeom>
            <a:avLst/>
            <a:gdLst/>
            <a:ahLst/>
            <a:cxnLst/>
            <a:rect r="r" b="b" t="t" l="l"/>
            <a:pathLst>
              <a:path h="1412967" w="1708705">
                <a:moveTo>
                  <a:pt x="0" y="0"/>
                </a:moveTo>
                <a:lnTo>
                  <a:pt x="1708705" y="0"/>
                </a:lnTo>
                <a:lnTo>
                  <a:pt x="1708705" y="1412967"/>
                </a:lnTo>
                <a:lnTo>
                  <a:pt x="0" y="1412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77839" y="3471210"/>
            <a:ext cx="1920914" cy="1690404"/>
          </a:xfrm>
          <a:custGeom>
            <a:avLst/>
            <a:gdLst/>
            <a:ahLst/>
            <a:cxnLst/>
            <a:rect r="r" b="b" t="t" l="l"/>
            <a:pathLst>
              <a:path h="1690404" w="1920914">
                <a:moveTo>
                  <a:pt x="0" y="0"/>
                </a:moveTo>
                <a:lnTo>
                  <a:pt x="1920914" y="0"/>
                </a:lnTo>
                <a:lnTo>
                  <a:pt x="1920914" y="1690404"/>
                </a:lnTo>
                <a:lnTo>
                  <a:pt x="0" y="1690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2774" y="3795348"/>
            <a:ext cx="1440011" cy="1492240"/>
          </a:xfrm>
          <a:custGeom>
            <a:avLst/>
            <a:gdLst/>
            <a:ahLst/>
            <a:cxnLst/>
            <a:rect r="r" b="b" t="t" l="l"/>
            <a:pathLst>
              <a:path h="1492240" w="1440011">
                <a:moveTo>
                  <a:pt x="0" y="0"/>
                </a:moveTo>
                <a:lnTo>
                  <a:pt x="1440011" y="0"/>
                </a:lnTo>
                <a:lnTo>
                  <a:pt x="1440011" y="1492240"/>
                </a:lnTo>
                <a:lnTo>
                  <a:pt x="0" y="14922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05779" y="1510850"/>
            <a:ext cx="2493294" cy="18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8"/>
              </a:lnSpc>
            </a:pPr>
            <a:r>
              <a:rPr lang="en-US" b="true" sz="139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724" y="1599114"/>
            <a:ext cx="1154372" cy="51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</a:pPr>
            <a:r>
              <a:rPr lang="en-US" sz="314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3362" y="2414179"/>
            <a:ext cx="6185052" cy="54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5"/>
              </a:lnSpc>
            </a:pPr>
            <a:r>
              <a:rPr lang="en-US" b="true" sz="4216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Challenges in Hinglish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90338" y="5271410"/>
            <a:ext cx="2722116" cy="625662"/>
            <a:chOff x="0" y="0"/>
            <a:chExt cx="176815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12372" y="5515483"/>
            <a:ext cx="2478048" cy="16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4"/>
              </a:lnSpc>
            </a:pPr>
            <a:r>
              <a:rPr lang="en-US" b="true" sz="1331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CODE-MIXING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1583" y="6116146"/>
            <a:ext cx="2819626" cy="17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</a:pPr>
            <a:r>
              <a:rPr lang="en-US" sz="18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Hinglish blends Hindi and English within sentences, creating complex language structures that traditional NLP models struggle to parse effectively.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84830" y="5271410"/>
            <a:ext cx="2722116" cy="625662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6864" y="5515483"/>
            <a:ext cx="2478048" cy="16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4"/>
              </a:lnSpc>
            </a:pPr>
            <a:r>
              <a:rPr lang="en-US" b="true" sz="1331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SPELLING VARIATIONS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36075" y="6116146"/>
            <a:ext cx="2819626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</a:pPr>
            <a:r>
              <a:rPr lang="en-US" sz="18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Romanized Hindi has no standard spelling. Words like "acha", "accha", and "achha" all mean the same thing.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08312" y="5271410"/>
            <a:ext cx="4021771" cy="625662"/>
            <a:chOff x="0" y="0"/>
            <a:chExt cx="2612351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12351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57464" y="5515483"/>
            <a:ext cx="3684870" cy="16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4"/>
              </a:lnSpc>
            </a:pPr>
            <a:r>
              <a:rPr lang="en-US" b="true" sz="1331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SLANG &amp; NEGATION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7809" y="6116146"/>
            <a:ext cx="366616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Informal slang (mast, bakwaas) and complex negation patterns ("nahi acha") require special handling for accurate sentiment detection.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98080" y="1764883"/>
            <a:ext cx="552550" cy="548842"/>
          </a:xfrm>
          <a:custGeom>
            <a:avLst/>
            <a:gdLst/>
            <a:ahLst/>
            <a:cxnLst/>
            <a:rect r="r" b="b" t="t" l="l"/>
            <a:pathLst>
              <a:path h="548842" w="552550">
                <a:moveTo>
                  <a:pt x="0" y="0"/>
                </a:moveTo>
                <a:lnTo>
                  <a:pt x="552550" y="0"/>
                </a:lnTo>
                <a:lnTo>
                  <a:pt x="552550" y="548842"/>
                </a:lnTo>
                <a:lnTo>
                  <a:pt x="0" y="54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46705" y="3123240"/>
            <a:ext cx="9176274" cy="110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7"/>
              </a:lnSpc>
            </a:pPr>
            <a:r>
              <a:rPr lang="en-US" b="true" sz="8566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Motivation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397663" y="2447052"/>
            <a:ext cx="5985108" cy="5985108"/>
            <a:chOff x="0" y="0"/>
            <a:chExt cx="14840029" cy="14840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6E9F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17608" t="0" r="-17608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692956" y="6582619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5" y="0"/>
                </a:lnTo>
                <a:lnTo>
                  <a:pt x="1785235" y="1785235"/>
                </a:lnTo>
                <a:lnTo>
                  <a:pt x="0" y="1785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83721" y="564812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6" y="0"/>
                </a:lnTo>
                <a:lnTo>
                  <a:pt x="1785236" y="1785236"/>
                </a:lnTo>
                <a:lnTo>
                  <a:pt x="0" y="1785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18002" y="1918464"/>
            <a:ext cx="2493294" cy="4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04928" y="1599114"/>
            <a:ext cx="1154372" cy="51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4"/>
              </a:lnSpc>
            </a:pPr>
            <a:r>
              <a:rPr lang="en-US" sz="3142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6705" y="4587246"/>
            <a:ext cx="8533572" cy="266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6"/>
              </a:lnSpc>
            </a:pPr>
            <a:r>
              <a:rPr lang="en-US" sz="236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The rapid growth of Hinglish content across social media, e-commerce reviews, and digital platforms creates an urgent need for effective sentiment analysis tools. Current solutions are inadequate for code-mixed languages, leaving a significant gap in understanding user opinions. This project aims to develop lightweight, interpretable, and real-time capable sentiment analysis specifically designed for Hinglish text.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977" y="1278781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46719" y="2150946"/>
            <a:ext cx="5985108" cy="5985108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6E9F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4252" t="0" r="-4252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46878" y="2150946"/>
            <a:ext cx="1382962" cy="1382962"/>
          </a:xfrm>
          <a:custGeom>
            <a:avLst/>
            <a:gdLst/>
            <a:ahLst/>
            <a:cxnLst/>
            <a:rect r="r" b="b" t="t" l="l"/>
            <a:pathLst>
              <a:path h="1382962" w="1382962">
                <a:moveTo>
                  <a:pt x="0" y="0"/>
                </a:moveTo>
                <a:lnTo>
                  <a:pt x="1382962" y="0"/>
                </a:lnTo>
                <a:lnTo>
                  <a:pt x="1382962" y="1382962"/>
                </a:lnTo>
                <a:lnTo>
                  <a:pt x="0" y="1382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87274" y="1433613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93717" y="2331921"/>
            <a:ext cx="9470244" cy="98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27"/>
              </a:lnSpc>
            </a:pPr>
            <a:r>
              <a:rPr lang="en-US" b="true" sz="7713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5977" y="4791208"/>
            <a:ext cx="9767519" cy="251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SemEval Hinglish Dataset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~18,000 labeled sentiment samples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Three classes: Positive, Negative, Neutral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Training and validation sets combined for model development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Test dataset unlabeled; predictions generated separately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Real-world Hinglish social media text samples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4928" y="1608639"/>
            <a:ext cx="705682" cy="45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0"/>
              </a:lnSpc>
            </a:pPr>
            <a:r>
              <a:rPr lang="en-US" sz="283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69892" y="1392576"/>
            <a:ext cx="601322" cy="480538"/>
          </a:xfrm>
          <a:custGeom>
            <a:avLst/>
            <a:gdLst/>
            <a:ahLst/>
            <a:cxnLst/>
            <a:rect r="r" b="b" t="t" l="l"/>
            <a:pathLst>
              <a:path h="480538" w="601322">
                <a:moveTo>
                  <a:pt x="0" y="0"/>
                </a:moveTo>
                <a:lnTo>
                  <a:pt x="601322" y="0"/>
                </a:lnTo>
                <a:lnTo>
                  <a:pt x="601322" y="480538"/>
                </a:lnTo>
                <a:lnTo>
                  <a:pt x="0" y="480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9080" y="3839676"/>
            <a:ext cx="1279839" cy="1311470"/>
          </a:xfrm>
          <a:custGeom>
            <a:avLst/>
            <a:gdLst/>
            <a:ahLst/>
            <a:cxnLst/>
            <a:rect r="r" b="b" t="t" l="l"/>
            <a:pathLst>
              <a:path h="1311470" w="1279839">
                <a:moveTo>
                  <a:pt x="0" y="0"/>
                </a:moveTo>
                <a:lnTo>
                  <a:pt x="1279839" y="0"/>
                </a:lnTo>
                <a:lnTo>
                  <a:pt x="1279839" y="1311470"/>
                </a:lnTo>
                <a:lnTo>
                  <a:pt x="0" y="1311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04919" y="3555751"/>
            <a:ext cx="2080214" cy="1662996"/>
          </a:xfrm>
          <a:custGeom>
            <a:avLst/>
            <a:gdLst/>
            <a:ahLst/>
            <a:cxnLst/>
            <a:rect r="r" b="b" t="t" l="l"/>
            <a:pathLst>
              <a:path h="1662996" w="2080214">
                <a:moveTo>
                  <a:pt x="0" y="0"/>
                </a:moveTo>
                <a:lnTo>
                  <a:pt x="2080214" y="0"/>
                </a:lnTo>
                <a:lnTo>
                  <a:pt x="2080214" y="1662996"/>
                </a:lnTo>
                <a:lnTo>
                  <a:pt x="0" y="1662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1488" y="3728200"/>
            <a:ext cx="1143871" cy="1458373"/>
          </a:xfrm>
          <a:custGeom>
            <a:avLst/>
            <a:gdLst/>
            <a:ahLst/>
            <a:cxnLst/>
            <a:rect r="r" b="b" t="t" l="l"/>
            <a:pathLst>
              <a:path h="1458373" w="1143871">
                <a:moveTo>
                  <a:pt x="0" y="0"/>
                </a:moveTo>
                <a:lnTo>
                  <a:pt x="1143872" y="0"/>
                </a:lnTo>
                <a:lnTo>
                  <a:pt x="1143872" y="1458372"/>
                </a:lnTo>
                <a:lnTo>
                  <a:pt x="0" y="1458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05779" y="1520375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724" y="1608639"/>
            <a:ext cx="1154372" cy="3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1"/>
              </a:lnSpc>
            </a:pPr>
            <a:r>
              <a:rPr lang="en-US" sz="190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3362" y="2423704"/>
            <a:ext cx="6185052" cy="55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8"/>
              </a:lnSpc>
            </a:pPr>
            <a:r>
              <a:rPr lang="en-US" b="true" sz="4367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Project Architecture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90338" y="5271410"/>
            <a:ext cx="2722116" cy="625662"/>
            <a:chOff x="0" y="0"/>
            <a:chExt cx="176815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12372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&amp; MODELS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1583" y="6116146"/>
            <a:ext cx="2819626" cy="17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data/ — raw and processed datasets</a:t>
            </a:r>
          </a:p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models/ — trained model files (.pkl)</a:t>
            </a:r>
          </a:p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Structured storage for artifacts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84830" y="5271410"/>
            <a:ext cx="2722116" cy="625662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6864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SOURCE CODE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36075" y="6116146"/>
            <a:ext cx="2819626" cy="17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src/ — core processing scripts</a:t>
            </a:r>
          </a:p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Preprocessing, training, evaluation modules</a:t>
            </a:r>
          </a:p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Modular and maintainable design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08312" y="5271410"/>
            <a:ext cx="4021771" cy="625662"/>
            <a:chOff x="0" y="0"/>
            <a:chExt cx="2612351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12351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57464" y="5442775"/>
            <a:ext cx="3684870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OUTPUTS &amp; REPORTS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7809" y="6116146"/>
            <a:ext cx="3666168" cy="1151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outputs/ — predictions and results</a:t>
            </a:r>
          </a:p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reports/ — evaluation metrics and analysis</a:t>
            </a:r>
          </a:p>
          <a:p>
            <a:pPr algn="ctr" marL="0" indent="0" lvl="0">
              <a:lnSpc>
                <a:spcPts val="2321"/>
              </a:lnSpc>
            </a:pPr>
            <a:r>
              <a:rPr lang="en-US" sz="17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Deployment-ready components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0946" y="8519516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2" y="0"/>
                </a:lnTo>
                <a:lnTo>
                  <a:pt x="19149892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84237" y="1680492"/>
            <a:ext cx="635983" cy="690838"/>
          </a:xfrm>
          <a:custGeom>
            <a:avLst/>
            <a:gdLst/>
            <a:ahLst/>
            <a:cxnLst/>
            <a:rect r="r" b="b" t="t" l="l"/>
            <a:pathLst>
              <a:path h="690838" w="635983">
                <a:moveTo>
                  <a:pt x="0" y="0"/>
                </a:moveTo>
                <a:lnTo>
                  <a:pt x="635983" y="0"/>
                </a:lnTo>
                <a:lnTo>
                  <a:pt x="635983" y="690838"/>
                </a:lnTo>
                <a:lnTo>
                  <a:pt x="0" y="69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312952" y="-960552"/>
            <a:ext cx="7315200" cy="2208508"/>
          </a:xfrm>
          <a:custGeom>
            <a:avLst/>
            <a:gdLst/>
            <a:ahLst/>
            <a:cxnLst/>
            <a:rect r="r" b="b" t="t" l="l"/>
            <a:pathLst>
              <a:path h="2208508" w="7315200">
                <a:moveTo>
                  <a:pt x="7315200" y="0"/>
                </a:moveTo>
                <a:lnTo>
                  <a:pt x="0" y="0"/>
                </a:lnTo>
                <a:lnTo>
                  <a:pt x="0" y="2208509"/>
                </a:lnTo>
                <a:lnTo>
                  <a:pt x="7315200" y="220850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519703" y="7919625"/>
            <a:ext cx="7315200" cy="2208508"/>
          </a:xfrm>
          <a:custGeom>
            <a:avLst/>
            <a:gdLst/>
            <a:ahLst/>
            <a:cxnLst/>
            <a:rect r="r" b="b" t="t" l="l"/>
            <a:pathLst>
              <a:path h="2208508" w="7315200">
                <a:moveTo>
                  <a:pt x="7315200" y="0"/>
                </a:moveTo>
                <a:lnTo>
                  <a:pt x="0" y="0"/>
                </a:lnTo>
                <a:lnTo>
                  <a:pt x="0" y="2208508"/>
                </a:lnTo>
                <a:lnTo>
                  <a:pt x="7315200" y="220850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18002" y="1908939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6512" y="2886221"/>
            <a:ext cx="9176274" cy="100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9"/>
              </a:lnSpc>
            </a:pPr>
            <a:r>
              <a:rPr lang="en-US" b="true" sz="7873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6512" y="5114925"/>
            <a:ext cx="8316770" cy="293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 cleaning and normalization steps applied before modeling: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Lowercasing text for consistency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Removing punctuation and URLs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Spelling normalization (acha / accha → acha)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Slang mapping (mast → good, bakwaas → bad)</a:t>
            </a:r>
          </a:p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Negation handling ("not good" → "not_good")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4928" y="1599114"/>
            <a:ext cx="705682" cy="47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6"/>
              </a:lnSpc>
            </a:pPr>
            <a:r>
              <a:rPr lang="en-US" sz="288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28240" y="1707891"/>
            <a:ext cx="502184" cy="649885"/>
          </a:xfrm>
          <a:custGeom>
            <a:avLst/>
            <a:gdLst/>
            <a:ahLst/>
            <a:cxnLst/>
            <a:rect r="r" b="b" t="t" l="l"/>
            <a:pathLst>
              <a:path h="649885" w="502184">
                <a:moveTo>
                  <a:pt x="0" y="0"/>
                </a:moveTo>
                <a:lnTo>
                  <a:pt x="502183" y="0"/>
                </a:lnTo>
                <a:lnTo>
                  <a:pt x="502183" y="649884"/>
                </a:lnTo>
                <a:lnTo>
                  <a:pt x="0" y="64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8002" y="1908939"/>
            <a:ext cx="2493294" cy="17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1"/>
              </a:lnSpc>
            </a:pPr>
            <a:r>
              <a:rPr lang="en-US" b="true" sz="142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4928" y="1608639"/>
            <a:ext cx="1154372" cy="30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9"/>
              </a:lnSpc>
            </a:pPr>
            <a:r>
              <a:rPr lang="en-US" sz="187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6705" y="3047040"/>
            <a:ext cx="9176274" cy="65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55"/>
              </a:lnSpc>
            </a:pPr>
            <a:r>
              <a:rPr lang="en-US" b="true" sz="511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Baseline Approach (TF-IDF)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6705" y="4587246"/>
            <a:ext cx="8533572" cy="266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6"/>
              </a:lnSpc>
            </a:pPr>
            <a:r>
              <a:rPr lang="en-US" sz="234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TF-IDF (Term Frequency-Inverse Document Frequency) vectorization converts text into numerical feature vectors using unigrams and bigrams. This traditional approach counts word occurrences and weights them by document frequency. However, TF-IDF treats words as independent tokens and does not capture semantic meaning or contextual relationships between words.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397663" y="2447052"/>
            <a:ext cx="5985108" cy="5985108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6E9F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223" t="0" r="223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5731139" y="6653724"/>
            <a:ext cx="1693188" cy="1697431"/>
          </a:xfrm>
          <a:custGeom>
            <a:avLst/>
            <a:gdLst/>
            <a:ahLst/>
            <a:cxnLst/>
            <a:rect r="r" b="b" t="t" l="l"/>
            <a:pathLst>
              <a:path h="1697431" w="1693188">
                <a:moveTo>
                  <a:pt x="0" y="0"/>
                </a:moveTo>
                <a:lnTo>
                  <a:pt x="1693188" y="0"/>
                </a:lnTo>
                <a:lnTo>
                  <a:pt x="1693188" y="1697432"/>
                </a:lnTo>
                <a:lnTo>
                  <a:pt x="0" y="1697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38555" y="617977"/>
            <a:ext cx="1685806" cy="1681591"/>
          </a:xfrm>
          <a:custGeom>
            <a:avLst/>
            <a:gdLst/>
            <a:ahLst/>
            <a:cxnLst/>
            <a:rect r="r" b="b" t="t" l="l"/>
            <a:pathLst>
              <a:path h="1681591" w="1685806">
                <a:moveTo>
                  <a:pt x="0" y="0"/>
                </a:moveTo>
                <a:lnTo>
                  <a:pt x="1685806" y="0"/>
                </a:lnTo>
                <a:lnTo>
                  <a:pt x="1685806" y="1681591"/>
                </a:lnTo>
                <a:lnTo>
                  <a:pt x="0" y="16815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72293">
            <a:off x="7601806" y="-9400381"/>
            <a:ext cx="19791811" cy="18615727"/>
          </a:xfrm>
          <a:custGeom>
            <a:avLst/>
            <a:gdLst/>
            <a:ahLst/>
            <a:cxnLst/>
            <a:rect r="r" b="b" t="t" l="l"/>
            <a:pathLst>
              <a:path h="18615727" w="19791811">
                <a:moveTo>
                  <a:pt x="0" y="0"/>
                </a:moveTo>
                <a:lnTo>
                  <a:pt x="19791811" y="0"/>
                </a:lnTo>
                <a:lnTo>
                  <a:pt x="19791811" y="18615727"/>
                </a:lnTo>
                <a:lnTo>
                  <a:pt x="0" y="18615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01138" y="8519516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68153" y="1557092"/>
            <a:ext cx="873643" cy="785941"/>
          </a:xfrm>
          <a:custGeom>
            <a:avLst/>
            <a:gdLst/>
            <a:ahLst/>
            <a:cxnLst/>
            <a:rect r="r" b="b" t="t" l="l"/>
            <a:pathLst>
              <a:path h="785941" w="873643">
                <a:moveTo>
                  <a:pt x="0" y="0"/>
                </a:moveTo>
                <a:lnTo>
                  <a:pt x="873642" y="0"/>
                </a:lnTo>
                <a:lnTo>
                  <a:pt x="873642" y="785941"/>
                </a:lnTo>
                <a:lnTo>
                  <a:pt x="0" y="785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7809" y="1908939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6512" y="2857646"/>
            <a:ext cx="9176274" cy="90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5"/>
              </a:lnSpc>
            </a:pPr>
            <a:r>
              <a:rPr lang="en-US" b="true" sz="6995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Improved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6512" y="4315520"/>
            <a:ext cx="6986171" cy="293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Multilingual sentence embeddings using paraphrase-multilingual-MiniLM model capture semantic meaning and contextual relationships. Unlike TF-IDF, embeddings understand that similar sentences produce similar vectors, enabling better cross-lingual sentiment detection for code-mixed Hinglish text.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4928" y="1608639"/>
            <a:ext cx="705682" cy="41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</a:pPr>
            <a:r>
              <a:rPr lang="en-US" sz="2566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97009" y="1392386"/>
            <a:ext cx="530273" cy="515690"/>
          </a:xfrm>
          <a:custGeom>
            <a:avLst/>
            <a:gdLst/>
            <a:ahLst/>
            <a:cxnLst/>
            <a:rect r="r" b="b" t="t" l="l"/>
            <a:pathLst>
              <a:path h="515690" w="530273">
                <a:moveTo>
                  <a:pt x="0" y="0"/>
                </a:moveTo>
                <a:lnTo>
                  <a:pt x="530272" y="0"/>
                </a:lnTo>
                <a:lnTo>
                  <a:pt x="530272" y="515690"/>
                </a:lnTo>
                <a:lnTo>
                  <a:pt x="0" y="515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90330" y="3907039"/>
            <a:ext cx="1115034" cy="1113640"/>
          </a:xfrm>
          <a:custGeom>
            <a:avLst/>
            <a:gdLst/>
            <a:ahLst/>
            <a:cxnLst/>
            <a:rect r="r" b="b" t="t" l="l"/>
            <a:pathLst>
              <a:path h="1113640" w="1115034">
                <a:moveTo>
                  <a:pt x="0" y="0"/>
                </a:moveTo>
                <a:lnTo>
                  <a:pt x="1115034" y="0"/>
                </a:lnTo>
                <a:lnTo>
                  <a:pt x="1115034" y="1113641"/>
                </a:lnTo>
                <a:lnTo>
                  <a:pt x="0" y="111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71657" y="3717008"/>
            <a:ext cx="1346458" cy="1339725"/>
          </a:xfrm>
          <a:custGeom>
            <a:avLst/>
            <a:gdLst/>
            <a:ahLst/>
            <a:cxnLst/>
            <a:rect r="r" b="b" t="t" l="l"/>
            <a:pathLst>
              <a:path h="1339725" w="1346458">
                <a:moveTo>
                  <a:pt x="0" y="0"/>
                </a:moveTo>
                <a:lnTo>
                  <a:pt x="1346458" y="0"/>
                </a:lnTo>
                <a:lnTo>
                  <a:pt x="1346458" y="1339726"/>
                </a:lnTo>
                <a:lnTo>
                  <a:pt x="0" y="133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69623" y="3762350"/>
            <a:ext cx="1477741" cy="1429862"/>
          </a:xfrm>
          <a:custGeom>
            <a:avLst/>
            <a:gdLst/>
            <a:ahLst/>
            <a:cxnLst/>
            <a:rect r="r" b="b" t="t" l="l"/>
            <a:pathLst>
              <a:path h="1429862" w="1477741">
                <a:moveTo>
                  <a:pt x="0" y="0"/>
                </a:moveTo>
                <a:lnTo>
                  <a:pt x="1477742" y="0"/>
                </a:lnTo>
                <a:lnTo>
                  <a:pt x="1477742" y="1429861"/>
                </a:lnTo>
                <a:lnTo>
                  <a:pt x="0" y="1429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0724" y="1608639"/>
            <a:ext cx="1154372" cy="36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en-US" sz="227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53362" y="2452279"/>
            <a:ext cx="6185052" cy="65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6"/>
              </a:lnSpc>
            </a:pPr>
            <a:r>
              <a:rPr lang="en-US" b="true" sz="5195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Models Used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990338" y="5271410"/>
            <a:ext cx="2722116" cy="625662"/>
            <a:chOff x="0" y="0"/>
            <a:chExt cx="1768157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12372" y="5452300"/>
            <a:ext cx="2478048" cy="20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8"/>
              </a:lnSpc>
            </a:pPr>
            <a:r>
              <a:rPr lang="en-US" b="true" sz="164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LOGISTIC REGRESSION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41583" y="6116146"/>
            <a:ext cx="2819626" cy="214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TF-IDF: Traditional baseline approach using term frequency features for classification.</a:t>
            </a:r>
          </a:p>
          <a:p>
            <a:pPr algn="ctr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Embeddings: Leverages semantic vectors for improved understanding.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84830" y="5271410"/>
            <a:ext cx="2722116" cy="625662"/>
            <a:chOff x="0" y="0"/>
            <a:chExt cx="1768157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806864" y="5452300"/>
            <a:ext cx="2478048" cy="20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8"/>
              </a:lnSpc>
            </a:pPr>
            <a:r>
              <a:rPr lang="en-US" b="true" sz="164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SVM (TF-IDF)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36075" y="6116146"/>
            <a:ext cx="2819626" cy="1531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Support Vector Machine with TF-IDF features. Strong baseline with hyperplane-based classification.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08312" y="5271410"/>
            <a:ext cx="4021771" cy="625662"/>
            <a:chOff x="0" y="0"/>
            <a:chExt cx="2612351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12351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157464" y="5452300"/>
            <a:ext cx="3684870" cy="20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8"/>
              </a:lnSpc>
            </a:pPr>
            <a:r>
              <a:rPr lang="en-US" b="true" sz="164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SVM (EMBEDDINGS)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77809" y="6116146"/>
            <a:ext cx="3666168" cy="122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Best performing model combining SVM with multilingual sentence embeddings for semantic understanding.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0946" y="8519516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2" y="0"/>
                </a:lnTo>
                <a:lnTo>
                  <a:pt x="19149892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6210" y="1737670"/>
            <a:ext cx="821107" cy="629145"/>
          </a:xfrm>
          <a:custGeom>
            <a:avLst/>
            <a:gdLst/>
            <a:ahLst/>
            <a:cxnLst/>
            <a:rect r="r" b="b" t="t" l="l"/>
            <a:pathLst>
              <a:path h="629145" w="821107">
                <a:moveTo>
                  <a:pt x="0" y="0"/>
                </a:moveTo>
                <a:lnTo>
                  <a:pt x="821107" y="0"/>
                </a:lnTo>
                <a:lnTo>
                  <a:pt x="821107" y="629146"/>
                </a:lnTo>
                <a:lnTo>
                  <a:pt x="0" y="62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312952" y="-960552"/>
            <a:ext cx="7315200" cy="2208508"/>
          </a:xfrm>
          <a:custGeom>
            <a:avLst/>
            <a:gdLst/>
            <a:ahLst/>
            <a:cxnLst/>
            <a:rect r="r" b="b" t="t" l="l"/>
            <a:pathLst>
              <a:path h="2208508" w="7315200">
                <a:moveTo>
                  <a:pt x="7315200" y="0"/>
                </a:moveTo>
                <a:lnTo>
                  <a:pt x="0" y="0"/>
                </a:lnTo>
                <a:lnTo>
                  <a:pt x="0" y="2208509"/>
                </a:lnTo>
                <a:lnTo>
                  <a:pt x="7315200" y="220850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alphaModFix amt="3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519703" y="7919625"/>
            <a:ext cx="7315200" cy="2208508"/>
          </a:xfrm>
          <a:custGeom>
            <a:avLst/>
            <a:gdLst/>
            <a:ahLst/>
            <a:cxnLst/>
            <a:rect r="r" b="b" t="t" l="l"/>
            <a:pathLst>
              <a:path h="2208508" w="7315200">
                <a:moveTo>
                  <a:pt x="7315200" y="0"/>
                </a:moveTo>
                <a:lnTo>
                  <a:pt x="0" y="0"/>
                </a:lnTo>
                <a:lnTo>
                  <a:pt x="0" y="2208508"/>
                </a:lnTo>
                <a:lnTo>
                  <a:pt x="7315200" y="220850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alphaModFix amt="3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18002" y="1908939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6512" y="2829071"/>
            <a:ext cx="9176274" cy="65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b="true" sz="520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Training 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76512" y="5114925"/>
            <a:ext cx="8316770" cy="305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Step-by-step training and evaluation workflow:</a:t>
            </a:r>
          </a:p>
          <a:p>
            <a:pPr algn="l" marL="401885" indent="-200942" lvl="1">
              <a:lnSpc>
                <a:spcPts val="2401"/>
              </a:lnSpc>
              <a:buAutoNum type="arabicPeriod" startAt="1"/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Data Preprocessing — Clean and normalize Hinglish text</a:t>
            </a:r>
          </a:p>
          <a:p>
            <a:pPr algn="l" marL="401885" indent="-200942" lvl="1">
              <a:lnSpc>
                <a:spcPts val="2401"/>
              </a:lnSpc>
              <a:buAutoNum type="arabicPeriod" startAt="1"/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Feature Extraction — TF-IDF vectorization or sentence embeddings</a:t>
            </a:r>
          </a:p>
          <a:p>
            <a:pPr algn="l" marL="401885" indent="-200942" lvl="1">
              <a:lnSpc>
                <a:spcPts val="2401"/>
              </a:lnSpc>
              <a:buAutoNum type="arabicPeriod" startAt="1"/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 Training — Train classifiers on processed features</a:t>
            </a:r>
          </a:p>
          <a:p>
            <a:pPr algn="l" marL="401885" indent="-200942" lvl="1">
              <a:lnSpc>
                <a:spcPts val="2401"/>
              </a:lnSpc>
              <a:buAutoNum type="arabicPeriod" startAt="1"/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Evaluation — Measure accuracy, F1-score, confusion matrix</a:t>
            </a:r>
          </a:p>
          <a:p>
            <a:pPr algn="l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Artifacts Generated:</a:t>
            </a:r>
          </a:p>
          <a:p>
            <a:pPr algn="l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Trained models (.pkl files)</a:t>
            </a:r>
          </a:p>
          <a:p>
            <a:pPr algn="l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TF-IDF vectorizer</a:t>
            </a:r>
          </a:p>
          <a:p>
            <a:pPr algn="l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Model metadata</a:t>
            </a:r>
          </a:p>
          <a:p>
            <a:pPr algn="l" marL="0" indent="0" lvl="0">
              <a:lnSpc>
                <a:spcPts val="2401"/>
              </a:lnSpc>
            </a:pPr>
            <a:r>
              <a:rPr lang="en-US" sz="18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Evaluation outputs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4928" y="1608639"/>
            <a:ext cx="705682" cy="3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1"/>
              </a:lnSpc>
            </a:pPr>
            <a:r>
              <a:rPr lang="en-US" sz="190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2831">
            <a:off x="-183072" y="90349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438710">
            <a:off x="-4529841" y="-5573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99598" y="1387181"/>
            <a:ext cx="525323" cy="527300"/>
          </a:xfrm>
          <a:custGeom>
            <a:avLst/>
            <a:gdLst/>
            <a:ahLst/>
            <a:cxnLst/>
            <a:rect r="r" b="b" t="t" l="l"/>
            <a:pathLst>
              <a:path h="527300" w="525323">
                <a:moveTo>
                  <a:pt x="0" y="0"/>
                </a:moveTo>
                <a:lnTo>
                  <a:pt x="525323" y="0"/>
                </a:lnTo>
                <a:lnTo>
                  <a:pt x="525323" y="527300"/>
                </a:lnTo>
                <a:lnTo>
                  <a:pt x="0" y="527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22784" y="258551"/>
            <a:ext cx="9377982" cy="8268431"/>
          </a:xfrm>
          <a:custGeom>
            <a:avLst/>
            <a:gdLst/>
            <a:ahLst/>
            <a:cxnLst/>
            <a:rect r="r" b="b" t="t" l="l"/>
            <a:pathLst>
              <a:path h="8268431" w="9377982">
                <a:moveTo>
                  <a:pt x="0" y="0"/>
                </a:moveTo>
                <a:lnTo>
                  <a:pt x="9377982" y="0"/>
                </a:lnTo>
                <a:lnTo>
                  <a:pt x="9377982" y="8268431"/>
                </a:lnTo>
                <a:lnTo>
                  <a:pt x="0" y="8268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05779" y="1529900"/>
            <a:ext cx="2493294" cy="53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40"/>
              </a:lnSpc>
            </a:pPr>
            <a:r>
              <a:rPr lang="en-US" b="true" sz="21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63450" y="2806763"/>
            <a:ext cx="9965350" cy="110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37"/>
              </a:lnSpc>
            </a:pPr>
            <a:r>
              <a:rPr lang="en-US" b="true" sz="8566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3310" y="5166865"/>
            <a:ext cx="9705631" cy="320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8"/>
              </a:lnSpc>
            </a:pPr>
            <a:r>
              <a:rPr lang="en-US" sz="244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 Performance Comparison:</a:t>
            </a:r>
          </a:p>
          <a:p>
            <a:pPr algn="ctr" marL="0" indent="0" lvl="0">
              <a:lnSpc>
                <a:spcPts val="3158"/>
              </a:lnSpc>
            </a:pPr>
            <a:r>
              <a:rPr lang="en-US" sz="244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SVM (Embeddings): Accuracy 0.6475, F1 0.6476</a:t>
            </a:r>
          </a:p>
          <a:p>
            <a:pPr algn="ctr" marL="0" indent="0" lvl="0">
              <a:lnSpc>
                <a:spcPts val="3158"/>
              </a:lnSpc>
            </a:pPr>
            <a:r>
              <a:rPr lang="en-US" sz="244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Logistic Regression (TF-IDF): Accuracy 0.6448, F1 0.6434</a:t>
            </a:r>
          </a:p>
          <a:p>
            <a:pPr algn="ctr" marL="0" indent="0" lvl="0">
              <a:lnSpc>
                <a:spcPts val="3158"/>
              </a:lnSpc>
            </a:pPr>
            <a:r>
              <a:rPr lang="en-US" sz="244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SVM (TF-IDF): Accuracy 0.6390, F1 0.6386</a:t>
            </a:r>
          </a:p>
          <a:p>
            <a:pPr algn="ctr" marL="0" indent="0" lvl="0">
              <a:lnSpc>
                <a:spcPts val="3158"/>
              </a:lnSpc>
            </a:pPr>
            <a:r>
              <a:rPr lang="en-US" sz="244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Logistic Regression (Embeddings): Accuracy 0.5874, F1 0.5826</a:t>
            </a:r>
          </a:p>
          <a:p>
            <a:pPr algn="ctr" marL="0" indent="0" lvl="0">
              <a:lnSpc>
                <a:spcPts val="3158"/>
              </a:lnSpc>
            </a:pPr>
            <a:r>
              <a:rPr lang="en-US" sz="244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SVM with sentence embeddings achieves the best overall performance, demonstrating the value of semantic understanding in Hinglish sentiment classification.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614587" y="3968"/>
            <a:ext cx="9282958" cy="11478155"/>
          </a:xfrm>
          <a:custGeom>
            <a:avLst/>
            <a:gdLst/>
            <a:ahLst/>
            <a:cxnLst/>
            <a:rect r="r" b="b" t="t" l="l"/>
            <a:pathLst>
              <a:path h="11478155" w="9282958">
                <a:moveTo>
                  <a:pt x="0" y="0"/>
                </a:moveTo>
                <a:lnTo>
                  <a:pt x="9282958" y="0"/>
                </a:lnTo>
                <a:lnTo>
                  <a:pt x="9282958" y="11478155"/>
                </a:lnTo>
                <a:lnTo>
                  <a:pt x="0" y="114781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0724" y="1599114"/>
            <a:ext cx="1154372" cy="51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4"/>
              </a:lnSpc>
            </a:pPr>
            <a:r>
              <a:rPr lang="en-US" sz="3142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46705" y="1754108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6705" y="3123240"/>
            <a:ext cx="9176274" cy="110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7"/>
              </a:lnSpc>
            </a:pPr>
            <a:r>
              <a:rPr lang="en-US" b="true" sz="8566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Analysis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397663" y="2447052"/>
            <a:ext cx="5985108" cy="5985108"/>
            <a:chOff x="0" y="0"/>
            <a:chExt cx="14840029" cy="148400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6E9F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13612" t="0" r="-13612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92956" y="6582619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5" y="0"/>
                </a:lnTo>
                <a:lnTo>
                  <a:pt x="1785235" y="1785235"/>
                </a:lnTo>
                <a:lnTo>
                  <a:pt x="0" y="17852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83721" y="564812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6" y="0"/>
                </a:lnTo>
                <a:lnTo>
                  <a:pt x="1785236" y="1785236"/>
                </a:lnTo>
                <a:lnTo>
                  <a:pt x="0" y="17852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18002" y="1918464"/>
            <a:ext cx="2493294" cy="4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97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04928" y="1599114"/>
            <a:ext cx="1154372" cy="51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4"/>
              </a:lnSpc>
            </a:pPr>
            <a:r>
              <a:rPr lang="en-US" sz="3142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6705" y="4587246"/>
            <a:ext cx="8533572" cy="280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2477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SVM performs best overall across all evaluation metrics, demonstrating superior classification capability for Hinglish text. Sentence embeddings improve semantic understanding by capturing contextual meaning and multilingual similarities that TF-IDF cannot detect. The performance gain from embeddings is moderate but consistent, validating the approach for code-mixed language processing.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1365543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34796" y="3569652"/>
            <a:ext cx="1627978" cy="1404581"/>
          </a:xfrm>
          <a:custGeom>
            <a:avLst/>
            <a:gdLst/>
            <a:ahLst/>
            <a:cxnLst/>
            <a:rect r="r" b="b" t="t" l="l"/>
            <a:pathLst>
              <a:path h="1404581" w="1627978">
                <a:moveTo>
                  <a:pt x="0" y="0"/>
                </a:moveTo>
                <a:lnTo>
                  <a:pt x="1627978" y="0"/>
                </a:lnTo>
                <a:lnTo>
                  <a:pt x="1627978" y="1404581"/>
                </a:lnTo>
                <a:lnTo>
                  <a:pt x="0" y="1404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3334" y="3688388"/>
            <a:ext cx="1520026" cy="1537321"/>
          </a:xfrm>
          <a:custGeom>
            <a:avLst/>
            <a:gdLst/>
            <a:ahLst/>
            <a:cxnLst/>
            <a:rect r="r" b="b" t="t" l="l"/>
            <a:pathLst>
              <a:path h="1537321" w="1520026">
                <a:moveTo>
                  <a:pt x="0" y="0"/>
                </a:moveTo>
                <a:lnTo>
                  <a:pt x="1520026" y="0"/>
                </a:lnTo>
                <a:lnTo>
                  <a:pt x="1520026" y="1537322"/>
                </a:lnTo>
                <a:lnTo>
                  <a:pt x="0" y="1537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81545" y="3682336"/>
            <a:ext cx="1458577" cy="1536233"/>
          </a:xfrm>
          <a:custGeom>
            <a:avLst/>
            <a:gdLst/>
            <a:ahLst/>
            <a:cxnLst/>
            <a:rect r="r" b="b" t="t" l="l"/>
            <a:pathLst>
              <a:path h="1536233" w="1458577">
                <a:moveTo>
                  <a:pt x="0" y="0"/>
                </a:moveTo>
                <a:lnTo>
                  <a:pt x="1458577" y="0"/>
                </a:lnTo>
                <a:lnTo>
                  <a:pt x="1458577" y="1536233"/>
                </a:lnTo>
                <a:lnTo>
                  <a:pt x="0" y="1536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05779" y="1520375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724" y="1608639"/>
            <a:ext cx="1154372" cy="3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1"/>
              </a:lnSpc>
            </a:pPr>
            <a:r>
              <a:rPr lang="en-US" sz="190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3362" y="2423704"/>
            <a:ext cx="6185052" cy="55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8"/>
              </a:lnSpc>
            </a:pPr>
            <a:r>
              <a:rPr lang="en-US" b="true" sz="4367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Error Analysis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90338" y="5271410"/>
            <a:ext cx="2722116" cy="625662"/>
            <a:chOff x="0" y="0"/>
            <a:chExt cx="176815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12372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NEGATION ISSUES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1583" y="6125671"/>
            <a:ext cx="2819626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 struggles with negation patterns like "nahi acha" or "not good". Mixed sentiment in same sentence causes confusion in classification.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84830" y="5271410"/>
            <a:ext cx="2722116" cy="625662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6864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HINGLISH AMBIGUITY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36075" y="6125671"/>
            <a:ext cx="2819626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Context misunderstanding due to code-mixing. Words like "mast" can be positive or sarcastic depending on context.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08312" y="5271410"/>
            <a:ext cx="4021771" cy="625662"/>
            <a:chOff x="0" y="0"/>
            <a:chExt cx="2612351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12351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57464" y="5442775"/>
            <a:ext cx="3684870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COMPLEX STRUCTURES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7809" y="6125671"/>
            <a:ext cx="3666168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Long sentences with multiple clauses and mixed Hindi-English syntax create parsing difficulties for the model.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25294">
            <a:off x="-4706113" y="875424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19534">
            <a:off x="-3557550" y="-5130180"/>
            <a:ext cx="21645066" cy="7900449"/>
          </a:xfrm>
          <a:custGeom>
            <a:avLst/>
            <a:gdLst/>
            <a:ahLst/>
            <a:cxnLst/>
            <a:rect r="r" b="b" t="t" l="l"/>
            <a:pathLst>
              <a:path h="7900449" w="21645066">
                <a:moveTo>
                  <a:pt x="0" y="7900449"/>
                </a:moveTo>
                <a:lnTo>
                  <a:pt x="21645066" y="7900449"/>
                </a:lnTo>
                <a:lnTo>
                  <a:pt x="21645066" y="0"/>
                </a:lnTo>
                <a:lnTo>
                  <a:pt x="0" y="0"/>
                </a:lnTo>
                <a:lnTo>
                  <a:pt x="0" y="7900449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34481" y="1365543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05344" y="1961483"/>
            <a:ext cx="7668552" cy="5965138"/>
            <a:chOff x="0" y="0"/>
            <a:chExt cx="1188059" cy="9241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8059" cy="924156"/>
            </a:xfrm>
            <a:custGeom>
              <a:avLst/>
              <a:gdLst/>
              <a:ahLst/>
              <a:cxnLst/>
              <a:rect r="r" b="b" t="t" l="l"/>
              <a:pathLst>
                <a:path h="924156" w="1188059">
                  <a:moveTo>
                    <a:pt x="23220" y="0"/>
                  </a:moveTo>
                  <a:lnTo>
                    <a:pt x="1164839" y="0"/>
                  </a:lnTo>
                  <a:cubicBezTo>
                    <a:pt x="1170998" y="0"/>
                    <a:pt x="1176904" y="2446"/>
                    <a:pt x="1181258" y="6801"/>
                  </a:cubicBezTo>
                  <a:cubicBezTo>
                    <a:pt x="1185613" y="11156"/>
                    <a:pt x="1188059" y="17062"/>
                    <a:pt x="1188059" y="23220"/>
                  </a:cubicBezTo>
                  <a:lnTo>
                    <a:pt x="1188059" y="900936"/>
                  </a:lnTo>
                  <a:cubicBezTo>
                    <a:pt x="1188059" y="907094"/>
                    <a:pt x="1185613" y="913000"/>
                    <a:pt x="1181258" y="917355"/>
                  </a:cubicBezTo>
                  <a:cubicBezTo>
                    <a:pt x="1176904" y="921710"/>
                    <a:pt x="1170998" y="924156"/>
                    <a:pt x="1164839" y="924156"/>
                  </a:cubicBezTo>
                  <a:lnTo>
                    <a:pt x="23220" y="924156"/>
                  </a:lnTo>
                  <a:cubicBezTo>
                    <a:pt x="17062" y="924156"/>
                    <a:pt x="11156" y="921710"/>
                    <a:pt x="6801" y="917355"/>
                  </a:cubicBezTo>
                  <a:cubicBezTo>
                    <a:pt x="2446" y="913000"/>
                    <a:pt x="0" y="907094"/>
                    <a:pt x="0" y="900936"/>
                  </a:cubicBezTo>
                  <a:lnTo>
                    <a:pt x="0" y="23220"/>
                  </a:lnTo>
                  <a:cubicBezTo>
                    <a:pt x="0" y="17062"/>
                    <a:pt x="2446" y="11156"/>
                    <a:pt x="6801" y="6801"/>
                  </a:cubicBezTo>
                  <a:cubicBezTo>
                    <a:pt x="11156" y="2446"/>
                    <a:pt x="17062" y="0"/>
                    <a:pt x="2322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61" r="0" b="-1261"/>
              </a:stretch>
            </a:blipFill>
            <a:ln w="66675" cap="rnd">
              <a:gradFill>
                <a:gsLst>
                  <a:gs pos="0">
                    <a:srgbClr val="032A64">
                      <a:alpha val="100000"/>
                    </a:srgbClr>
                  </a:gs>
                  <a:gs pos="100000">
                    <a:srgbClr val="414C9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405779" y="1520375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8150" y="2669980"/>
            <a:ext cx="8278893" cy="65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40"/>
              </a:lnSpc>
            </a:pPr>
            <a:r>
              <a:rPr lang="en-US" b="true" sz="520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Application (Streamlit)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2715" y="4929076"/>
            <a:ext cx="8436920" cy="100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4"/>
              </a:lnSpc>
            </a:pPr>
            <a:r>
              <a:rPr lang="en-US" sz="15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User inputs Hinglish text into the interface and the model predicts sentiment in real-time. The application displays the sentiment label (Positive, Negative, Neutral), confidence score, and processed text. Users can switch between TF-IDF and Embedding-based models for comparison. Clean, intuitive interface designed for easy interaction and demonstration.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724" y="1608639"/>
            <a:ext cx="1074675" cy="3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1"/>
              </a:lnSpc>
            </a:pPr>
            <a:r>
              <a:rPr lang="en-US" sz="190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08238" y="1293428"/>
            <a:ext cx="708139" cy="713000"/>
          </a:xfrm>
          <a:custGeom>
            <a:avLst/>
            <a:gdLst/>
            <a:ahLst/>
            <a:cxnLst/>
            <a:rect r="r" b="b" t="t" l="l"/>
            <a:pathLst>
              <a:path h="713000" w="708139">
                <a:moveTo>
                  <a:pt x="0" y="0"/>
                </a:moveTo>
                <a:lnTo>
                  <a:pt x="708139" y="0"/>
                </a:lnTo>
                <a:lnTo>
                  <a:pt x="708139" y="713000"/>
                </a:lnTo>
                <a:lnTo>
                  <a:pt x="0" y="71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47877" y="3598414"/>
            <a:ext cx="1602739" cy="1412314"/>
          </a:xfrm>
          <a:custGeom>
            <a:avLst/>
            <a:gdLst/>
            <a:ahLst/>
            <a:cxnLst/>
            <a:rect r="r" b="b" t="t" l="l"/>
            <a:pathLst>
              <a:path h="1412314" w="1602739">
                <a:moveTo>
                  <a:pt x="0" y="0"/>
                </a:moveTo>
                <a:lnTo>
                  <a:pt x="1602738" y="0"/>
                </a:lnTo>
                <a:lnTo>
                  <a:pt x="1602738" y="1412314"/>
                </a:lnTo>
                <a:lnTo>
                  <a:pt x="0" y="1412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28631" y="3705069"/>
            <a:ext cx="1634012" cy="1345466"/>
          </a:xfrm>
          <a:custGeom>
            <a:avLst/>
            <a:gdLst/>
            <a:ahLst/>
            <a:cxnLst/>
            <a:rect r="r" b="b" t="t" l="l"/>
            <a:pathLst>
              <a:path h="1345466" w="1634012">
                <a:moveTo>
                  <a:pt x="0" y="0"/>
                </a:moveTo>
                <a:lnTo>
                  <a:pt x="1634011" y="0"/>
                </a:lnTo>
                <a:lnTo>
                  <a:pt x="1634011" y="1345466"/>
                </a:lnTo>
                <a:lnTo>
                  <a:pt x="0" y="1345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78893" y="3774903"/>
            <a:ext cx="2129686" cy="1433932"/>
          </a:xfrm>
          <a:custGeom>
            <a:avLst/>
            <a:gdLst/>
            <a:ahLst/>
            <a:cxnLst/>
            <a:rect r="r" b="b" t="t" l="l"/>
            <a:pathLst>
              <a:path h="1433932" w="2129686">
                <a:moveTo>
                  <a:pt x="0" y="0"/>
                </a:moveTo>
                <a:lnTo>
                  <a:pt x="2129686" y="0"/>
                </a:lnTo>
                <a:lnTo>
                  <a:pt x="2129686" y="1433932"/>
                </a:lnTo>
                <a:lnTo>
                  <a:pt x="0" y="1433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05779" y="1520375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724" y="1608639"/>
            <a:ext cx="1154372" cy="3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1"/>
              </a:lnSpc>
            </a:pPr>
            <a:r>
              <a:rPr lang="en-US" sz="190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3362" y="2423704"/>
            <a:ext cx="6185052" cy="55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8"/>
              </a:lnSpc>
            </a:pPr>
            <a:r>
              <a:rPr lang="en-US" b="true" sz="4367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Limitations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90338" y="5271410"/>
            <a:ext cx="2722116" cy="625662"/>
            <a:chOff x="0" y="0"/>
            <a:chExt cx="176815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12372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SARCASM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1583" y="6125671"/>
            <a:ext cx="2819626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Current models struggle to detect sarcasm and irony in Hinglish text, often misclassifying sarcastic negative statements as positive sentiment.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84830" y="5271410"/>
            <a:ext cx="2722116" cy="625662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6864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MIXED SENTIMENT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36075" y="6125671"/>
            <a:ext cx="2819626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Difficulty handling sentences with both positive and negative opinions, leading to incorrect overall sentiment classification.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08312" y="5271410"/>
            <a:ext cx="4021771" cy="625662"/>
            <a:chOff x="0" y="0"/>
            <a:chExt cx="2612351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12351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57464" y="5442775"/>
            <a:ext cx="3684870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ABBREVIATIONS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7809" y="6125671"/>
            <a:ext cx="3666168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Poor handling of common internet abbreviations like gr8, lol, btw which are prevalent in informal Hinglish communication.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2917" y="1329714"/>
            <a:ext cx="658577" cy="639951"/>
          </a:xfrm>
          <a:custGeom>
            <a:avLst/>
            <a:gdLst/>
            <a:ahLst/>
            <a:cxnLst/>
            <a:rect r="r" b="b" t="t" l="l"/>
            <a:pathLst>
              <a:path h="639951" w="658577">
                <a:moveTo>
                  <a:pt x="0" y="0"/>
                </a:moveTo>
                <a:lnTo>
                  <a:pt x="658577" y="0"/>
                </a:lnTo>
                <a:lnTo>
                  <a:pt x="658577" y="639950"/>
                </a:lnTo>
                <a:lnTo>
                  <a:pt x="0" y="63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70544" y="3821173"/>
            <a:ext cx="1356602" cy="1197001"/>
          </a:xfrm>
          <a:custGeom>
            <a:avLst/>
            <a:gdLst/>
            <a:ahLst/>
            <a:cxnLst/>
            <a:rect r="r" b="b" t="t" l="l"/>
            <a:pathLst>
              <a:path h="1197001" w="1356602">
                <a:moveTo>
                  <a:pt x="0" y="0"/>
                </a:moveTo>
                <a:lnTo>
                  <a:pt x="1356601" y="0"/>
                </a:lnTo>
                <a:lnTo>
                  <a:pt x="1356601" y="1197001"/>
                </a:lnTo>
                <a:lnTo>
                  <a:pt x="0" y="1197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95602" y="3419267"/>
            <a:ext cx="1738120" cy="1801161"/>
          </a:xfrm>
          <a:custGeom>
            <a:avLst/>
            <a:gdLst/>
            <a:ahLst/>
            <a:cxnLst/>
            <a:rect r="r" b="b" t="t" l="l"/>
            <a:pathLst>
              <a:path h="1801161" w="1738120">
                <a:moveTo>
                  <a:pt x="0" y="0"/>
                </a:moveTo>
                <a:lnTo>
                  <a:pt x="1738120" y="0"/>
                </a:lnTo>
                <a:lnTo>
                  <a:pt x="1738120" y="1801161"/>
                </a:lnTo>
                <a:lnTo>
                  <a:pt x="0" y="1801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65415" y="3791602"/>
            <a:ext cx="1477741" cy="1430529"/>
          </a:xfrm>
          <a:custGeom>
            <a:avLst/>
            <a:gdLst/>
            <a:ahLst/>
            <a:cxnLst/>
            <a:rect r="r" b="b" t="t" l="l"/>
            <a:pathLst>
              <a:path h="1430529" w="1477741">
                <a:moveTo>
                  <a:pt x="0" y="0"/>
                </a:moveTo>
                <a:lnTo>
                  <a:pt x="1477741" y="0"/>
                </a:lnTo>
                <a:lnTo>
                  <a:pt x="1477741" y="1430529"/>
                </a:lnTo>
                <a:lnTo>
                  <a:pt x="0" y="1430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05779" y="1520375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724" y="1608639"/>
            <a:ext cx="1154372" cy="3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1"/>
              </a:lnSpc>
            </a:pPr>
            <a:r>
              <a:rPr lang="en-US" sz="190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3362" y="2423704"/>
            <a:ext cx="6185052" cy="55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8"/>
              </a:lnSpc>
            </a:pPr>
            <a:r>
              <a:rPr lang="en-US" b="true" sz="4367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Future Work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90338" y="5271410"/>
            <a:ext cx="2722116" cy="625662"/>
            <a:chOff x="0" y="0"/>
            <a:chExt cx="176815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12372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TRANSFORMER MODELS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1583" y="6125671"/>
            <a:ext cx="2819626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Integrate advanced transformer architectures like BERT and IndicBERT for deeper contextual understanding of Hinglish text.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84830" y="5271410"/>
            <a:ext cx="2722116" cy="625662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6864" y="5442775"/>
            <a:ext cx="2478048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EXPANSION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36075" y="6125671"/>
            <a:ext cx="2819626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Improve abbreviation handling for terms like "gr8", "lol", "btw" and expand dataset size for better coverage.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08312" y="5271410"/>
            <a:ext cx="4021771" cy="625662"/>
            <a:chOff x="0" y="0"/>
            <a:chExt cx="2612351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12351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57464" y="5442775"/>
            <a:ext cx="3684870" cy="1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"/>
              </a:lnSpc>
            </a:pPr>
            <a:r>
              <a:rPr lang="en-US" b="true" sz="1378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CONTEXT MODELING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7809" y="6125671"/>
            <a:ext cx="3666168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8"/>
              </a:lnSpc>
            </a:pPr>
            <a:r>
              <a:rPr lang="en-US" sz="12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Develop better context understanding mechanisms to handle sarcasm, mixed sentiment, and complex linguistic patterns.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2831">
            <a:off x="-183072" y="90349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438710">
            <a:off x="-4529841" y="-5573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67117" y="1390415"/>
            <a:ext cx="589203" cy="518542"/>
          </a:xfrm>
          <a:custGeom>
            <a:avLst/>
            <a:gdLst/>
            <a:ahLst/>
            <a:cxnLst/>
            <a:rect r="r" b="b" t="t" l="l"/>
            <a:pathLst>
              <a:path h="518542" w="589203">
                <a:moveTo>
                  <a:pt x="0" y="0"/>
                </a:moveTo>
                <a:lnTo>
                  <a:pt x="589203" y="0"/>
                </a:lnTo>
                <a:lnTo>
                  <a:pt x="589203" y="518543"/>
                </a:lnTo>
                <a:lnTo>
                  <a:pt x="0" y="518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67498" y="961875"/>
            <a:ext cx="5482971" cy="8229600"/>
          </a:xfrm>
          <a:custGeom>
            <a:avLst/>
            <a:gdLst/>
            <a:ahLst/>
            <a:cxnLst/>
            <a:rect r="r" b="b" t="t" l="l"/>
            <a:pathLst>
              <a:path h="8229600" w="5482971">
                <a:moveTo>
                  <a:pt x="0" y="0"/>
                </a:moveTo>
                <a:lnTo>
                  <a:pt x="5482971" y="0"/>
                </a:lnTo>
                <a:lnTo>
                  <a:pt x="54829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05779" y="1529900"/>
            <a:ext cx="2493294" cy="28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</a:pPr>
            <a:r>
              <a:rPr lang="en-US" b="true" sz="219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thynk unlimited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63450" y="2797238"/>
            <a:ext cx="9965350" cy="100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98"/>
              </a:lnSpc>
            </a:pPr>
            <a:r>
              <a:rPr lang="en-US" b="true" sz="7893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63450" y="5368320"/>
            <a:ext cx="9705631" cy="266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6"/>
              </a:lnSpc>
            </a:pPr>
            <a:r>
              <a:rPr lang="en-US" sz="236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Built a complete end-to-end Hinglish sentiment analysis system</a:t>
            </a:r>
          </a:p>
          <a:p>
            <a:pPr algn="ctr" marL="0" indent="0" lvl="0">
              <a:lnSpc>
                <a:spcPts val="3056"/>
              </a:lnSpc>
            </a:pPr>
            <a:r>
              <a:rPr lang="en-US" sz="236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Compared traditional TF-IDF and modern embeddings approaches</a:t>
            </a:r>
          </a:p>
          <a:p>
            <a:pPr algn="ctr" marL="0" indent="0" lvl="0">
              <a:lnSpc>
                <a:spcPts val="3056"/>
              </a:lnSpc>
            </a:pPr>
            <a:r>
              <a:rPr lang="en-US" sz="236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Achieved improved performance with multilingual sentence embeddings</a:t>
            </a:r>
          </a:p>
          <a:p>
            <a:pPr algn="ctr" marL="0" indent="0" lvl="0">
              <a:lnSpc>
                <a:spcPts val="3056"/>
              </a:lnSpc>
            </a:pPr>
            <a:r>
              <a:rPr lang="en-US" sz="236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Developed a deployable Streamlit application for real-time predictions</a:t>
            </a:r>
          </a:p>
          <a:p>
            <a:pPr algn="ctr" marL="0" indent="0" lvl="0">
              <a:lnSpc>
                <a:spcPts val="3056"/>
              </a:lnSpc>
            </a:pPr>
            <a:r>
              <a:rPr lang="en-US" sz="236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 Demonstrated practical viability of lightweight ML solutions for code-mixed languages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39900" y="1212866"/>
            <a:ext cx="10720004" cy="8616347"/>
          </a:xfrm>
          <a:custGeom>
            <a:avLst/>
            <a:gdLst/>
            <a:ahLst/>
            <a:cxnLst/>
            <a:rect r="r" b="b" t="t" l="l"/>
            <a:pathLst>
              <a:path h="8616347" w="10720004">
                <a:moveTo>
                  <a:pt x="0" y="0"/>
                </a:moveTo>
                <a:lnTo>
                  <a:pt x="10720003" y="0"/>
                </a:lnTo>
                <a:lnTo>
                  <a:pt x="10720003" y="8616347"/>
                </a:lnTo>
                <a:lnTo>
                  <a:pt x="0" y="8616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0724" y="1599114"/>
            <a:ext cx="1154372" cy="47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5"/>
              </a:lnSpc>
            </a:pPr>
            <a:r>
              <a:rPr lang="en-US" sz="2896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5598" y="1419612"/>
            <a:ext cx="751404" cy="439111"/>
          </a:xfrm>
          <a:custGeom>
            <a:avLst/>
            <a:gdLst/>
            <a:ahLst/>
            <a:cxnLst/>
            <a:rect r="r" b="b" t="t" l="l"/>
            <a:pathLst>
              <a:path h="439111" w="751404">
                <a:moveTo>
                  <a:pt x="0" y="0"/>
                </a:moveTo>
                <a:lnTo>
                  <a:pt x="751404" y="0"/>
                </a:lnTo>
                <a:lnTo>
                  <a:pt x="751404" y="439111"/>
                </a:lnTo>
                <a:lnTo>
                  <a:pt x="0" y="43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05779" y="1520375"/>
            <a:ext cx="2493294" cy="18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5"/>
              </a:lnSpc>
            </a:pPr>
            <a:r>
              <a:rPr lang="en-US" b="true" sz="14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Hinglish Sentiment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1325" y="2238626"/>
            <a:ext cx="9965350" cy="65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40"/>
              </a:lnSpc>
            </a:pPr>
            <a:r>
              <a:rPr lang="en-US" b="true" sz="520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Team Members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36709" y="4081883"/>
            <a:ext cx="12506077" cy="216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75"/>
              </a:lnSpc>
            </a:pPr>
            <a:r>
              <a:rPr lang="en-US" sz="24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Madhav Kathuria —  Core ML + Architecture + UI</a:t>
            </a:r>
          </a:p>
          <a:p>
            <a:pPr algn="ctr" marL="0" indent="0" lvl="0">
              <a:lnSpc>
                <a:spcPts val="2788"/>
              </a:lnSpc>
            </a:pPr>
            <a:r>
              <a:rPr lang="en-US" sz="21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Prakhar Parashar</a:t>
            </a:r>
            <a:r>
              <a:rPr lang="en-US" sz="21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— Models + Training</a:t>
            </a:r>
          </a:p>
          <a:p>
            <a:pPr algn="ctr" marL="0" indent="0" lvl="0">
              <a:lnSpc>
                <a:spcPts val="2788"/>
              </a:lnSpc>
            </a:pPr>
            <a:r>
              <a:rPr lang="en-US" sz="21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Utkarsh Jha — Preprocessing + Data</a:t>
            </a:r>
          </a:p>
          <a:p>
            <a:pPr algn="ctr" marL="0" indent="0" lvl="0">
              <a:lnSpc>
                <a:spcPts val="2788"/>
              </a:lnSpc>
            </a:pPr>
            <a:r>
              <a:rPr lang="en-US" sz="21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Aaryaveer Rathore — Results + Analysis</a:t>
            </a:r>
          </a:p>
          <a:p>
            <a:pPr algn="ctr" marL="0" indent="0" lvl="0">
              <a:lnSpc>
                <a:spcPts val="2788"/>
              </a:lnSpc>
            </a:pPr>
            <a:r>
              <a:rPr lang="en-US" sz="21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K.Siddhartha — Application + Limitations</a:t>
            </a:r>
          </a:p>
          <a:p>
            <a:pPr algn="ctr" marL="0" indent="0" lvl="0">
              <a:lnSpc>
                <a:spcPts val="2788"/>
              </a:lnSpc>
            </a:pPr>
            <a:r>
              <a:rPr lang="en-US" sz="2161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K. Ribhu —Documentation and Evaluation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724" y="1608639"/>
            <a:ext cx="1154372" cy="3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1"/>
              </a:lnSpc>
            </a:pPr>
            <a:r>
              <a:rPr lang="en-US" sz="1908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30197" y="7069581"/>
            <a:ext cx="19517450" cy="2188719"/>
            <a:chOff x="0" y="0"/>
            <a:chExt cx="5140398" cy="5764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0398" cy="576453"/>
            </a:xfrm>
            <a:custGeom>
              <a:avLst/>
              <a:gdLst/>
              <a:ahLst/>
              <a:cxnLst/>
              <a:rect r="r" b="b" t="t" l="l"/>
              <a:pathLst>
                <a:path h="576453" w="5140398">
                  <a:moveTo>
                    <a:pt x="0" y="0"/>
                  </a:moveTo>
                  <a:lnTo>
                    <a:pt x="5140398" y="0"/>
                  </a:lnTo>
                  <a:lnTo>
                    <a:pt x="5140398" y="576453"/>
                  </a:lnTo>
                  <a:lnTo>
                    <a:pt x="0" y="576453"/>
                  </a:lnTo>
                  <a:close/>
                </a:path>
              </a:pathLst>
            </a:custGeom>
            <a:solidFill>
              <a:srgbClr val="012130">
                <a:alpha val="2392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140398" cy="605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8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405779" y="3661233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7"/>
              </a:lnSpc>
            </a:pPr>
            <a:r>
              <a:rPr lang="en-US" b="true" sz="23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Questions?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55863" y="4411280"/>
            <a:ext cx="917627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43"/>
              </a:lnSpc>
            </a:pPr>
            <a:r>
              <a:rPr lang="en-US" b="true" sz="8572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Thank You!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55354" y="5607374"/>
            <a:ext cx="8436920" cy="83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Thank you for your attention. We welcome any questions about our Hinglish sentiment analysis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DAHIXe1cI0g</dc:identifier>
  <dcterms:modified xsi:type="dcterms:W3CDTF">2011-08-01T06:04:30Z</dcterms:modified>
  <cp:revision>1</cp:revision>
  <dc:title>Hinglish Sentiment: Embeddings-Driven Analysis</dc:title>
</cp:coreProperties>
</file>